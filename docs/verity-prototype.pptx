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3054096"/>
            <a:ext cx="83027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B1A2B"/>
                </a:solidFill>
                <a:latin typeface="Arial"/>
              </a:rPr>
              <a:t>VERITY</a:t>
            </a:r>
            <a:r>
              <a:rPr sz="1000" b="0" i="0">
                <a:solidFill>
                  <a:srgbClr val="334045"/>
                </a:solidFill>
                <a:latin typeface="Arial"/>
              </a:rPr>
              <a:t>  </a:t>
            </a:r>
            <a:r>
              <a:rPr sz="1400" b="0" i="0">
                <a:solidFill>
                  <a:srgbClr val="6B7D84"/>
                </a:solidFill>
                <a:latin typeface="Arial"/>
              </a:rPr>
              <a:t>Prior Authorization Evidence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456432"/>
            <a:ext cx="83027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334045"/>
                </a:solidFill>
                <a:latin typeface="Arial"/>
              </a:rPr>
              <a:t>Every determination traces to a cited source. The system can approve, or route to a clinician — it cannot deny.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84048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1A2B"/>
                </a:solidFill>
                <a:latin typeface="Arial"/>
              </a:rPr>
              <a:t>Team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1952" y="3840480"/>
            <a:ext cx="682142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045"/>
                </a:solidFill>
                <a:latin typeface="Arial"/>
              </a:rPr>
              <a:t>Team Alpha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408736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1A2B"/>
                </a:solidFill>
                <a:latin typeface="Arial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4087368"/>
            <a:ext cx="682142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045"/>
                </a:solidFill>
                <a:latin typeface="Arial"/>
              </a:rPr>
              <a:t>Patient &amp; Member 360 / Clinical-Regulatory Copilot (HCLS)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433425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1A2B"/>
                </a:solidFill>
                <a:latin typeface="Arial"/>
              </a:rPr>
              <a:t>Team Leader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4334256"/>
            <a:ext cx="682142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045"/>
                </a:solidFill>
                <a:latin typeface="Arial"/>
              </a:rPr>
              <a:t>Priyanka Karmakar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581144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1A2B"/>
                </a:solidFill>
                <a:latin typeface="Arial"/>
              </a:rPr>
              <a:t>Team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1952" y="4581144"/>
            <a:ext cx="682142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045"/>
                </a:solidFill>
                <a:latin typeface="Arial"/>
              </a:rPr>
              <a:t>2 — Priyanka Karmakar (lead), Mohammed Favas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694944"/>
            <a:ext cx="83027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A0F2"/>
                </a:solidFill>
                <a:latin typeface="Arial"/>
              </a:rPr>
              <a:t>PROBLEM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896112"/>
            <a:ext cx="830275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A2B"/>
                </a:solidFill>
                <a:latin typeface="Arial"/>
              </a:rPr>
              <a:t>A reviewer cannot see the evidence that would approve the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1261872"/>
            <a:ext cx="8302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D84"/>
                </a:solidFill>
                <a:latin typeface="Arial"/>
              </a:rPr>
              <a:t>Prior authorization for specialty drugs — Meridian Health Plan (synthetic)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682495"/>
            <a:ext cx="4050791" cy="1481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750" b="1" i="0">
                <a:solidFill>
                  <a:srgbClr val="1BA0F2"/>
                </a:solidFill>
                <a:latin typeface="Arial"/>
              </a:rPr>
              <a:t>THE USER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B1A2B"/>
                </a:solidFill>
                <a:latin typeface="Arial"/>
              </a:rPr>
              <a:t>Utilization-management nurse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045"/>
                </a:solidFill>
                <a:latin typeface="Arial"/>
              </a:rPr>
              <a:t>Decides whether a requested drug meets the plan's published medical policy, then documents why. Works a queue under a turnaround clock.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583" y="1682495"/>
            <a:ext cx="4050791" cy="1481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750" b="1" i="0">
                <a:solidFill>
                  <a:srgbClr val="1BA0F2"/>
                </a:solidFill>
                <a:latin typeface="Arial"/>
              </a:rPr>
              <a:t>THE PAIN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B1A2B"/>
                </a:solidFill>
                <a:latin typeface="Arial"/>
              </a:rPr>
              <a:t>The evidence is split in half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4045"/>
                </a:solidFill>
                <a:latin typeface="Arial"/>
              </a:rPr>
              <a:t>Eligibility, claims, labs and pharmacy fills live in tables. Trial history, intolerances and contraindications live in narrative notes and scanned faxes. The policy itself is a PDF. Nothing joins them but a person reading.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310128"/>
            <a:ext cx="8302751" cy="841248"/>
          </a:xfrm>
          <a:prstGeom prst="roundRect">
            <a:avLst>
              <a:gd name="adj" fmla="val 10000"/>
            </a:avLst>
          </a:prstGeom>
          <a:solidFill>
            <a:srgbClr val="F8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750" b="1" i="0">
                <a:solidFill>
                  <a:srgbClr val="9C3129"/>
                </a:solidFill>
                <a:latin typeface="Arial"/>
              </a:rPr>
              <a:t>WHAT GOES WRONG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A request is refused because the evidence was never found — not because it did not exist. </a:t>
            </a:r>
            <a:r>
              <a:rPr sz="950" b="0" i="0">
                <a:solidFill>
                  <a:srgbClr val="1A1A1A"/>
                </a:solidFill>
                <a:latin typeface="Arial"/>
              </a:rPr>
              <a:t>A metformin trial completed under a previous carrier, or an intolerance recorded by an out-of-network specialist, is invisible to a query scoped to the current plan.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4279392"/>
            <a:ext cx="830275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1A2B"/>
                </a:solidFill>
                <a:latin typeface="Arial"/>
              </a:rPr>
              <a:t>Domain context.  </a:t>
            </a:r>
            <a:r>
              <a:rPr sz="900" b="0" i="0">
                <a:solidFill>
                  <a:srgbClr val="334045"/>
                </a:solidFill>
                <a:latin typeface="Arial"/>
              </a:rPr>
              <a:t>Since January 2026, CMS-0057-F requires impacted payers to return prior-authorization decisions within 72 hours (expedited) or 7 calendar days (standard), and to give a specific reason for every denial. "The model decided" is not a reason. Each criterion must be individually defensible and traceable to a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694944"/>
            <a:ext cx="83027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A0F2"/>
                </a:solidFill>
                <a:latin typeface="Arial"/>
              </a:rPr>
              <a:t>THE CRITERIA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896112"/>
            <a:ext cx="830275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A2B"/>
                </a:solidFill>
                <a:latin typeface="Arial"/>
              </a:rPr>
              <a:t>The model reads evidence. Arithmetic renders the verdict.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1261872"/>
            <a:ext cx="8302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D84"/>
                </a:solidFill>
                <a:latin typeface="Arial"/>
              </a:rPr>
              <a:t>A policy PDF becomes a tree of individually checkable nodes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682495"/>
            <a:ext cx="4224528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700" b="1" i="0">
                <a:solidFill>
                  <a:srgbClr val="1BA0F2"/>
                </a:solidFill>
                <a:latin typeface="Courier New"/>
              </a:rPr>
              <a:t>MHP-PA-0142  ·  21 NODES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B1A2B"/>
                </a:solidFill>
                <a:latin typeface="Courier New"/>
              </a:rPr>
              <a:t>[ALL_OF] Medical necessity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B1A2B"/>
                </a:solidFill>
                <a:latin typeface="Courier New"/>
              </a:rPr>
              <a:t>   [ALL_OF] §3 Coverage criteria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34045"/>
                </a:solidFill>
                <a:latin typeface="Courier New"/>
              </a:rPr>
              <a:t>      §3.1 Age ≥ 18</a:t>
            </a:r>
            <a:r>
              <a:rPr sz="700" b="0" i="0">
                <a:solidFill>
                  <a:srgbClr val="6B7D84"/>
                </a:solidFill>
                <a:latin typeface="Arial"/>
              </a:rPr>
              <a:t>  (structured)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34045"/>
                </a:solidFill>
                <a:latin typeface="Courier New"/>
              </a:rPr>
              <a:t>      §3.3 HbA1c ≥ 7.0% within 90d</a:t>
            </a:r>
            <a:r>
              <a:rPr sz="700" b="0" i="0">
                <a:solidFill>
                  <a:srgbClr val="6B7D84"/>
                </a:solidFill>
                <a:latin typeface="Arial"/>
              </a:rPr>
              <a:t>  (structured)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B1A2B"/>
                </a:solidFill>
                <a:latin typeface="Courier New"/>
              </a:rPr>
              <a:t>   [ALL_OF] §4 Step therapy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B1A2B"/>
                </a:solidFill>
                <a:latin typeface="Courier New"/>
              </a:rPr>
              <a:t>      [ANY_OF] §4.1 Metformin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34045"/>
                </a:solidFill>
                <a:latin typeface="Courier New"/>
              </a:rPr>
              <a:t>         adequate trial</a:t>
            </a:r>
            <a:r>
              <a:rPr sz="700" b="0" i="0">
                <a:solidFill>
                  <a:srgbClr val="6B7D84"/>
                </a:solidFill>
                <a:latin typeface="Arial"/>
              </a:rPr>
              <a:t>  (structured)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34045"/>
                </a:solidFill>
                <a:latin typeface="Courier New"/>
              </a:rPr>
              <a:t>         documented intolerance</a:t>
            </a:r>
            <a:r>
              <a:rPr sz="700" b="0" i="0">
                <a:solidFill>
                  <a:srgbClr val="6B7D84"/>
                </a:solidFill>
                <a:latin typeface="Arial"/>
              </a:rPr>
              <a:t>  (narrative)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B1A2B"/>
                </a:solidFill>
                <a:latin typeface="Courier New"/>
              </a:rPr>
              <a:t>   [NONE_OF] §5 Exclusions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34045"/>
                </a:solidFill>
                <a:latin typeface="Courier New"/>
              </a:rPr>
              <a:t>      §5.1 MTC / MEN2 history</a:t>
            </a:r>
            <a:r>
              <a:rPr sz="700" b="0" i="0">
                <a:solidFill>
                  <a:srgbClr val="6B7D84"/>
                </a:solidFill>
                <a:latin typeface="Arial"/>
              </a:rPr>
              <a:t>  (narrative)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82495"/>
            <a:ext cx="3877055" cy="786384"/>
          </a:xfrm>
          <a:prstGeom prst="roundRect">
            <a:avLst>
              <a:gd name="adj" fmla="val 10000"/>
            </a:avLst>
          </a:prstGeom>
          <a:solidFill>
            <a:srgbClr val="F2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B1A2B"/>
                </a:solidFill>
                <a:latin typeface="Arial"/>
              </a:rPr>
              <a:t>Each leaf resolves alone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4045"/>
                </a:solidFill>
                <a:latin typeface="Arial"/>
              </a:rPr>
              <a:t>A structured leaf is SQL over claims, labs and fills. A narrative leaf is retrieval over clinical notes. Each returns MET, NOT MET, or NO EVIDENCE — and its citation.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2487168"/>
            <a:ext cx="3877055" cy="786384"/>
          </a:xfrm>
          <a:prstGeom prst="roundRect">
            <a:avLst>
              <a:gd name="adj" fmla="val 10000"/>
            </a:avLst>
          </a:prstGeom>
          <a:solidFill>
            <a:srgbClr val="F2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B1A2B"/>
                </a:solidFill>
                <a:latin typeface="Arial"/>
              </a:rPr>
              <a:t>Groups fold upward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4045"/>
                </a:solidFill>
                <a:latin typeface="Arial"/>
              </a:rPr>
              <a:t>ALL_OF, ANY_OF and NONE_OF combine children in deterministic SQL. No model call decides an outcome.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3291839"/>
            <a:ext cx="3877055" cy="786384"/>
          </a:xfrm>
          <a:prstGeom prst="roundRect">
            <a:avLst>
              <a:gd name="adj" fmla="val 10000"/>
            </a:avLst>
          </a:prstGeom>
          <a:solidFill>
            <a:srgbClr val="F2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B1A2B"/>
                </a:solidFill>
                <a:latin typeface="Arial"/>
              </a:rPr>
              <a:t>Two outcomes exist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4045"/>
                </a:solidFill>
                <a:latin typeface="Arial"/>
              </a:rPr>
              <a:t>APPROVE, or ROUTE TO CLINICIAN with the missing item named. There is no code path that denies — a structural property, not a prompt instruction.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169664"/>
            <a:ext cx="83027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Why it matters.  </a:t>
            </a:r>
            <a:r>
              <a:rPr sz="850" b="0" i="0">
                <a:solidFill>
                  <a:srgbClr val="334045"/>
                </a:solidFill>
                <a:latin typeface="Arial"/>
              </a:rPr>
              <a:t>A verdict computed from cited leaves cannot be uncited, and cannot drift between runs on the same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694944"/>
            <a:ext cx="83027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A0F2"/>
                </a:solidFill>
                <a:latin typeface="Arial"/>
              </a:rPr>
              <a:t>HOW IT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896112"/>
            <a:ext cx="830275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A2B"/>
                </a:solidFill>
                <a:latin typeface="Arial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1261872"/>
            <a:ext cx="8302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D84"/>
                </a:solidFill>
                <a:latin typeface="Arial"/>
              </a:rPr>
              <a:t>Everything executes inside Snowflake. No PHI leaves the perimeter.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810512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BA0F2"/>
                </a:solidFill>
                <a:latin typeface="Arial"/>
              </a:rPr>
              <a:t>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61872" y="1682495"/>
            <a:ext cx="15179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Policy PDF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B7D84"/>
                </a:solidFill>
                <a:latin typeface="Courier New"/>
              </a:rPr>
              <a:t>@POLICY_DOCS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93492" y="1915667"/>
            <a:ext cx="91440" cy="82296"/>
          </a:xfrm>
          <a:prstGeom prst="rightArrow">
            <a:avLst/>
          </a:prstGeom>
          <a:solidFill>
            <a:srgbClr val="9AA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98648" y="1682495"/>
            <a:ext cx="15179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AI_PARSE_DOCUMENT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B7D84"/>
                </a:solidFill>
                <a:latin typeface="Courier New"/>
              </a:rPr>
              <a:t>layout mode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430268" y="1915667"/>
            <a:ext cx="91440" cy="82296"/>
          </a:xfrm>
          <a:prstGeom prst="rightArrow">
            <a:avLst/>
          </a:prstGeom>
          <a:solidFill>
            <a:srgbClr val="9AA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35424" y="1682495"/>
            <a:ext cx="1517904" cy="548640"/>
          </a:xfrm>
          <a:prstGeom prst="roundRect">
            <a:avLst>
              <a:gd name="adj" fmla="val 10000"/>
            </a:avLst>
          </a:prstGeom>
          <a:solidFill>
            <a:srgbClr val="E8F4FD"/>
          </a:solidFill>
          <a:ln w="9525">
            <a:solidFill>
              <a:srgbClr val="1BA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policy-criteria-extractor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B7D84"/>
                </a:solidFill>
                <a:latin typeface="Courier New"/>
              </a:rPr>
              <a:t>CoCo CLI skill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67044" y="1915667"/>
            <a:ext cx="91440" cy="82296"/>
          </a:xfrm>
          <a:prstGeom prst="rightArrow">
            <a:avLst/>
          </a:prstGeom>
          <a:solidFill>
            <a:srgbClr val="9AA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682495"/>
            <a:ext cx="15179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Criteria Ledger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B7D84"/>
                </a:solidFill>
                <a:latin typeface="Courier New"/>
              </a:rPr>
              <a:t>21 nodes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2478024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BA0F2"/>
                </a:solidFill>
                <a:latin typeface="Arial"/>
              </a:rPr>
              <a:t>MEMBER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61872" y="2350008"/>
            <a:ext cx="15179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Claims · Labs · Rx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B7D84"/>
                </a:solidFill>
                <a:latin typeface="Courier New"/>
              </a:rPr>
              <a:t>5,003 members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793492" y="2583179"/>
            <a:ext cx="91440" cy="82296"/>
          </a:xfrm>
          <a:prstGeom prst="rightArrow">
            <a:avLst/>
          </a:prstGeom>
          <a:solidFill>
            <a:srgbClr val="9AA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98648" y="2350008"/>
            <a:ext cx="15179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V_DRUG_TRIAL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B7D84"/>
                </a:solidFill>
                <a:latin typeface="Courier New"/>
              </a:rPr>
              <a:t>gap analysis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430268" y="2583179"/>
            <a:ext cx="91440" cy="82296"/>
          </a:xfrm>
          <a:prstGeom prst="rightArrow">
            <a:avLst/>
          </a:prstGeom>
          <a:solidFill>
            <a:srgbClr val="9AA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35424" y="2350008"/>
            <a:ext cx="15179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Structured leaves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B7D84"/>
                </a:solidFill>
                <a:latin typeface="Courier New"/>
              </a:rPr>
              <a:t>SQL + citation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3145536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BA0F2"/>
                </a:solidFill>
                <a:latin typeface="Arial"/>
              </a:rPr>
              <a:t>NARRATIVE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61872" y="3017520"/>
            <a:ext cx="15179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Clinical notes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B7D84"/>
                </a:solidFill>
                <a:latin typeface="Courier New"/>
              </a:rPr>
              <a:t>CLINICAL_NOTE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793492" y="3250691"/>
            <a:ext cx="91440" cy="82296"/>
          </a:xfrm>
          <a:prstGeom prst="rightArrow">
            <a:avLst/>
          </a:prstGeom>
          <a:solidFill>
            <a:srgbClr val="9AA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98648" y="3017520"/>
            <a:ext cx="15179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Cortex Search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B7D84"/>
                </a:solidFill>
                <a:latin typeface="Courier New"/>
              </a:rPr>
              <a:t>member-scoped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430268" y="3250691"/>
            <a:ext cx="91440" cy="82296"/>
          </a:xfrm>
          <a:prstGeom prst="rightArrow">
            <a:avLst/>
          </a:prstGeom>
          <a:solidFill>
            <a:srgbClr val="9AA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35424" y="3017520"/>
            <a:ext cx="15179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AI_FILTER adjudication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B7D84"/>
                </a:solidFill>
                <a:latin typeface="Courier New"/>
              </a:rPr>
              <a:t>affirms?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67044" y="3250691"/>
            <a:ext cx="91440" cy="82296"/>
          </a:xfrm>
          <a:prstGeom prst="rightArrow">
            <a:avLst/>
          </a:prstGeom>
          <a:solidFill>
            <a:srgbClr val="9AA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72200" y="3017520"/>
            <a:ext cx="15179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Narrative leaves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B7D84"/>
                </a:solidFill>
                <a:latin typeface="Courier New"/>
              </a:rPr>
              <a:t>+ citation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61872" y="3739895"/>
            <a:ext cx="3154679" cy="548640"/>
          </a:xfrm>
          <a:prstGeom prst="roundRect">
            <a:avLst>
              <a:gd name="adj" fmla="val 10000"/>
            </a:avLst>
          </a:prstGeom>
          <a:solidFill>
            <a:srgbClr val="0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Deterministic rollup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9FC4DE"/>
                </a:solidFill>
                <a:latin typeface="Courier New"/>
              </a:rPr>
              <a:t>ALL_OF / ANY_OF / NONE_OF — SQL, not a model call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35424" y="3739895"/>
            <a:ext cx="15179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AUDIT trail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B7D84"/>
                </a:solidFill>
                <a:latin typeface="Courier New"/>
              </a:rPr>
              <a:t>every node + source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5"/>
            <a:ext cx="15179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Streamlit console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6B7D84"/>
                </a:solidFill>
                <a:latin typeface="Courier New"/>
              </a:rPr>
              <a:t>in Snowflake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" y="4379975"/>
            <a:ext cx="8302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CoCo CLI skills.  </a:t>
            </a:r>
            <a:r>
              <a:rPr sz="850" b="0" i="0">
                <a:solidFill>
                  <a:srgbClr val="1BA0F2"/>
                </a:solidFill>
                <a:latin typeface="Courier New"/>
              </a:rPr>
              <a:t>policy-criteria-extractor</a:t>
            </a:r>
            <a:r>
              <a:rPr sz="850" b="0" i="0">
                <a:solidFill>
                  <a:srgbClr val="334045"/>
                </a:solidFill>
                <a:latin typeface="Arial"/>
              </a:rPr>
              <a:t> converts parsed policy prose into the criteria tree, scored blind against a held-out answer key. It recovered every node independently and added two the hand-authored key was missing.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694944"/>
            <a:ext cx="83027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A0F2"/>
                </a:solidFill>
                <a:latin typeface="Arial"/>
              </a:rPr>
              <a:t>DEMO · MEMBER M09000001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896112"/>
            <a:ext cx="830275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A2B"/>
                </a:solidFill>
                <a:latin typeface="Arial"/>
              </a:rPr>
              <a:t>The evidence that approves the case is in the wrong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1261872"/>
            <a:ext cx="8302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D84"/>
                </a:solidFill>
                <a:latin typeface="Arial"/>
              </a:rPr>
              <a:t>§4.1 requires three consecutive months of metformin. Hers sits under a prior carrier's member 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682495"/>
            <a:ext cx="4050791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6B7D84"/>
                </a:solidFill>
                <a:latin typeface="Arial"/>
              </a:rPr>
              <a:t>CONVENTIONAL QUERY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9C3129"/>
                </a:solidFill>
                <a:latin typeface="Arial"/>
              </a:rPr>
              <a:t>0 fills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334045"/>
                </a:solidFill>
                <a:latin typeface="Arial"/>
              </a:rPr>
              <a:t>Scoped to the current member id, step therapy fails. The request is refused.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D84"/>
                </a:solidFill>
                <a:latin typeface="Courier New"/>
              </a:rPr>
              <a:t>WHERE member_id = 'M09000001'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583" y="1682495"/>
            <a:ext cx="4050791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BA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1" i="0">
                <a:solidFill>
                  <a:srgbClr val="1BA0F2"/>
                </a:solidFill>
                <a:latin typeface="Arial"/>
              </a:rPr>
              <a:t>VERITY — IDENTITY-LINKED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1B6E45"/>
                </a:solidFill>
                <a:latin typeface="Arial"/>
              </a:rPr>
              <a:t>5.9 months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334045"/>
                </a:solidFill>
                <a:latin typeface="Arial"/>
              </a:rPr>
              <a:t>Six consecutive fills recovered from prior coverage. §4.1 satisfied, with a citation.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D84"/>
                </a:solidFill>
                <a:latin typeface="Courier New"/>
              </a:rPr>
              <a:t>source: Northstar Mutual Health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852928"/>
            <a:ext cx="8302751" cy="475488"/>
          </a:xfrm>
          <a:prstGeom prst="roundRect">
            <a:avLst>
              <a:gd name="adj" fmla="val 10000"/>
            </a:avLst>
          </a:prstGeom>
          <a:solidFill>
            <a:srgbClr val="F2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B1A2B"/>
                </a:solidFill>
                <a:latin typeface="Arial"/>
              </a:rPr>
              <a:t>This is the policy applied correctly, not a loophole.  </a:t>
            </a:r>
            <a:r>
              <a:rPr sz="900" b="0" i="0">
                <a:solidFill>
                  <a:srgbClr val="334045"/>
                </a:solidFill>
                <a:latin typeface="Arial"/>
              </a:rPr>
              <a:t>§2.3 states that a trial completed under a prior member identifier or prior carrier SHALL count toward step therapy. Conventional tooling simply never looks there.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3419856"/>
            <a:ext cx="83027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BA0F2"/>
                </a:solidFill>
                <a:latin typeface="Arial"/>
              </a:rPr>
              <a:t>THREE CASES, THREE DIFFERENT PATHS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3648456"/>
            <a:ext cx="11704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Elena Vasquez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2" y="3630168"/>
            <a:ext cx="676656" cy="173736"/>
          </a:xfrm>
          <a:prstGeom prst="roundRect">
            <a:avLst>
              <a:gd name="adj" fmla="val 50000"/>
            </a:avLst>
          </a:prstGeom>
          <a:solidFill>
            <a:srgbClr val="E2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1B6E45"/>
                </a:solidFill>
                <a:latin typeface="Courier New"/>
              </a:rPr>
              <a:t>APPROVE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3639312"/>
            <a:ext cx="63276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34045"/>
                </a:solidFill>
                <a:latin typeface="Arial"/>
              </a:rPr>
              <a:t>§4.1 rescued by prior-coverage linkage; §4.2 by an out-of-network note documenting intolerance to both second-line classes.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3968496"/>
            <a:ext cx="11704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Marcus Thorne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7632" y="3950208"/>
            <a:ext cx="676656" cy="173736"/>
          </a:xfrm>
          <a:prstGeom prst="roundRect">
            <a:avLst>
              <a:gd name="adj" fmla="val 50000"/>
            </a:avLst>
          </a:prstGeom>
          <a:solidFill>
            <a:srgbClr val="F7E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8A5A06"/>
                </a:solidFill>
                <a:latin typeface="Courier New"/>
              </a:rPr>
              <a:t>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3959352"/>
            <a:ext cx="63276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34045"/>
                </a:solidFill>
                <a:latin typeface="Arial"/>
              </a:rPr>
              <a:t>Only HbA1c on file is 210 days old. The system names exactly what is missing rather than refusing.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4288536"/>
            <a:ext cx="11704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Priya Nakamura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27632" y="4270248"/>
            <a:ext cx="676656" cy="173736"/>
          </a:xfrm>
          <a:prstGeom prst="roundRect">
            <a:avLst>
              <a:gd name="adj" fmla="val 50000"/>
            </a:avLst>
          </a:prstGeom>
          <a:solidFill>
            <a:srgbClr val="F8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9C3129"/>
                </a:solidFill>
                <a:latin typeface="Courier New"/>
              </a:rPr>
              <a:t>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4279392"/>
            <a:ext cx="63276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34045"/>
                </a:solidFill>
                <a:latin typeface="Arial"/>
              </a:rPr>
              <a:t>Every criterion passes, but a family history of medullary thyroid carcinoma is buried in a consult note. §5.1 fires.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" y="4626864"/>
            <a:ext cx="8302751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BA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BA0F2"/>
                </a:solidFill>
                <a:latin typeface="Arial"/>
              </a:rPr>
              <a:t>Not just these three.  </a:t>
            </a:r>
            <a:r>
              <a:rPr sz="850" b="0" i="0">
                <a:solidFill>
                  <a:srgbClr val="334045"/>
                </a:solidFill>
                <a:latin typeface="Arial"/>
              </a:rPr>
              <a:t>Any of the 5,003 members can be reviewed on demand — the same 21 criteria, adjudicated live in about 40 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694944"/>
            <a:ext cx="83027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A0F2"/>
                </a:solidFill>
                <a:latin typeface="Arial"/>
              </a:rPr>
              <a:t>A FAILURE WE FOUND AND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896112"/>
            <a:ext cx="830275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A2B"/>
                </a:solidFill>
                <a:latin typeface="Arial"/>
              </a:rPr>
              <a:t>Retrieval finds the topic. It does not know the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1261872"/>
            <a:ext cx="8302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D84"/>
                </a:solidFill>
                <a:latin typeface="Arial"/>
              </a:rPr>
              <a:t>Searching two members for a history of medullary thyroid carcinoma returns a confident hit for both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682495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B7D84"/>
                </a:solidFill>
                <a:latin typeface="Courier New"/>
              </a:rPr>
              <a:t>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9344" y="1682495"/>
            <a:ext cx="44439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B7D84"/>
                </a:solidFill>
                <a:latin typeface="Courier New"/>
              </a:rPr>
              <a:t>WHAT RETRIEVAL RETURNED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53328" y="1682495"/>
            <a:ext cx="10607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B7D84"/>
                </a:solidFill>
                <a:latin typeface="Courier New"/>
              </a:rPr>
              <a:t>NAIVE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4032" y="1682495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B7D84"/>
                </a:solidFill>
                <a:latin typeface="Courier New"/>
              </a:rPr>
              <a:t>VERITY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193852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B1A2B"/>
                </a:solidFill>
                <a:latin typeface="Courier New"/>
              </a:rPr>
              <a:t>M09000003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1929384"/>
            <a:ext cx="4334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334045"/>
                </a:solidFill>
                <a:latin typeface="Arial"/>
              </a:rPr>
              <a:t>"Mother was diagnosed with medullary thyroid carcinoma at age 52"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3328" y="1901952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8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9C3129"/>
                </a:solidFill>
                <a:latin typeface="Courier New"/>
              </a:rPr>
              <a:t>EXCLUDED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14032" y="1901952"/>
            <a:ext cx="1024128" cy="182880"/>
          </a:xfrm>
          <a:prstGeom prst="roundRect">
            <a:avLst>
              <a:gd name="adj" fmla="val 50000"/>
            </a:avLst>
          </a:prstGeom>
          <a:solidFill>
            <a:srgbClr val="F8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9C3129"/>
                </a:solidFill>
                <a:latin typeface="Courier New"/>
              </a:rPr>
              <a:t>EXCLUDED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230428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B1A2B"/>
                </a:solidFill>
                <a:latin typeface="Courier New"/>
              </a:rPr>
              <a:t>M09000002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9344" y="2295144"/>
            <a:ext cx="4334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334045"/>
                </a:solidFill>
                <a:latin typeface="Arial"/>
              </a:rPr>
              <a:t>"No personal or family history of thyroid malignancy"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3328" y="2267712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8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9C3129"/>
                </a:solidFill>
                <a:latin typeface="Courier New"/>
              </a:rPr>
              <a:t>EXCLUDED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14032" y="2267712"/>
            <a:ext cx="1024128" cy="182880"/>
          </a:xfrm>
          <a:prstGeom prst="roundRect">
            <a:avLst>
              <a:gd name="adj" fmla="val 50000"/>
            </a:avLst>
          </a:prstGeom>
          <a:solidFill>
            <a:srgbClr val="E2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B6E45"/>
                </a:solidFill>
                <a:latin typeface="Courier New"/>
              </a:rPr>
              <a:t>NOT EXCLUDED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2688336"/>
            <a:ext cx="8302751" cy="676656"/>
          </a:xfrm>
          <a:prstGeom prst="roundRect">
            <a:avLst>
              <a:gd name="adj" fmla="val 10000"/>
            </a:avLst>
          </a:prstGeom>
          <a:solidFill>
            <a:srgbClr val="F8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9C3129"/>
                </a:solidFill>
                <a:latin typeface="Arial"/>
              </a:rPr>
              <a:t>Treating a retrieval hit as a met criterion would have blocked care for a member whose own record rules the exclusion out.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Reranker scores did separate the two, but a score threshold is arbitrary and drifts with corpus and phrasing. The fix is structural: Cortex Search narrows to candidates, then a separate adjudication step decides whether the passage affirmatively asserts the condition. Retrieval proposes; adjudication disposes.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" y="3456432"/>
            <a:ext cx="4059935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700" b="1" i="0">
                <a:solidFill>
                  <a:srgbClr val="1BA0F2"/>
                </a:solidFill>
                <a:latin typeface="Courier New"/>
              </a:rPr>
              <a:t>BLIND EXTRACTION, SCORED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E45"/>
                </a:solidFill>
                <a:latin typeface="Arial"/>
              </a:rPr>
              <a:t>21/21</a:t>
            </a:r>
            <a:r>
              <a:rPr sz="850" b="0" i="0">
                <a:solidFill>
                  <a:srgbClr val="334045"/>
                </a:solidFill>
                <a:latin typeface="Arial"/>
              </a:rPr>
              <a:t>  structural match · </a:t>
            </a:r>
            <a:r>
              <a:rPr sz="1300" b="1" i="0">
                <a:solidFill>
                  <a:srgbClr val="0B1A2B"/>
                </a:solidFill>
                <a:latin typeface="Arial"/>
              </a:rPr>
              <a:t>0/21</a:t>
            </a:r>
            <a:r>
              <a:rPr sz="850" b="0" i="0">
                <a:solidFill>
                  <a:srgbClr val="334045"/>
                </a:solidFill>
                <a:latin typeface="Arial"/>
              </a:rPr>
              <a:t>  identical labels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3456432"/>
            <a:ext cx="4059935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700" b="1" i="0">
                <a:solidFill>
                  <a:srgbClr val="1BA0F2"/>
                </a:solidFill>
                <a:latin typeface="Courier New"/>
              </a:rPr>
              <a:t>THE FIRST RUN WAS DISCARDED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34045"/>
                </a:solidFill>
                <a:latin typeface="Arial"/>
              </a:rPr>
              <a:t>It scored 100% by reading the answer key sitting in the table it was writing to. We moved the key to a held-out schema and added a contamination detector.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" y="694944"/>
            <a:ext cx="83027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BA0F2"/>
                </a:solidFill>
                <a:latin typeface="Arial"/>
              </a:rPr>
              <a:t>IMPACT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896112"/>
            <a:ext cx="830275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A2B"/>
                </a:solidFill>
                <a:latin typeface="Arial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1261872"/>
            <a:ext cx="8302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D84"/>
                </a:solidFill>
                <a:latin typeface="Arial"/>
              </a:rPr>
              <a:t>Every figure below is measured from this build, not quoted from industry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682495"/>
            <a:ext cx="1979675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BA0F2"/>
                </a:solidFill>
                <a:latin typeface="Arial"/>
              </a:rPr>
              <a:t>43s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end-to-end adjudication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D84"/>
                </a:solidFill>
                <a:latin typeface="Arial"/>
              </a:rPr>
              <a:t>21 criteria, 6 retrievals,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D84"/>
                </a:solidFill>
                <a:latin typeface="Arial"/>
              </a:rPr>
              <a:t>20 adjudication calls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8315" y="1682495"/>
            <a:ext cx="1979675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BA0F2"/>
                </a:solidFill>
                <a:latin typeface="Arial"/>
              </a:rPr>
              <a:t>100%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of determinations cited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D84"/>
                </a:solidFill>
                <a:latin typeface="Arial"/>
              </a:rPr>
              <a:t>315 audit nodes, each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D84"/>
                </a:solidFill>
                <a:latin typeface="Arial"/>
              </a:rPr>
              <a:t>with its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6007" y="1682495"/>
            <a:ext cx="1979675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BA0F2"/>
                </a:solidFill>
                <a:latin typeface="Arial"/>
              </a:rPr>
              <a:t>21/21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blind extraction match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D84"/>
                </a:solidFill>
                <a:latin typeface="Arial"/>
              </a:rPr>
              <a:t>policy PDF → criteria tree,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D84"/>
                </a:solidFill>
                <a:latin typeface="Arial"/>
              </a:rPr>
              <a:t>scored against held-out key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3699" y="1682495"/>
            <a:ext cx="1979675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 i="0">
                <a:solidFill>
                  <a:srgbClr val="1BA0F2"/>
                </a:solidFill>
                <a:latin typeface="Arial"/>
              </a:rPr>
              <a:t>$6.77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total build cost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D84"/>
                </a:solidFill>
                <a:latin typeface="Arial"/>
              </a:rPr>
              <a:t>245,291 rows,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D84"/>
                </a:solidFill>
                <a:latin typeface="Arial"/>
              </a:rPr>
              <a:t>2.26 credits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2724911"/>
            <a:ext cx="83027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BA0F2"/>
                </a:solidFill>
                <a:latin typeface="Arial"/>
              </a:rPr>
              <a:t>WHAT CHANGES FOR THE REVIEWER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2944368"/>
            <a:ext cx="4059935" cy="896112"/>
          </a:xfrm>
          <a:prstGeom prst="roundRect">
            <a:avLst>
              <a:gd name="adj" fmla="val 10000"/>
            </a:avLst>
          </a:prstGeom>
          <a:solidFill>
            <a:srgbClr val="F2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B1A2B"/>
                </a:solidFill>
                <a:latin typeface="Arial"/>
              </a:rPr>
              <a:t>The evidence packet is assembled, not hunted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4045"/>
                </a:solidFill>
                <a:latin typeface="Arial"/>
              </a:rPr>
              <a:t>A reviewer opens a request and sees each criterion with its verdict and source already attached — including narrative evidence a structured query would never surface. Clear-cut cases approve themselves; the rest arrive ready to judge.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944368"/>
            <a:ext cx="4059935" cy="896112"/>
          </a:xfrm>
          <a:prstGeom prst="roundRect">
            <a:avLst>
              <a:gd name="adj" fmla="val 10000"/>
            </a:avLst>
          </a:prstGeom>
          <a:solidFill>
            <a:srgbClr val="F2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B1A2B"/>
                </a:solidFill>
                <a:latin typeface="Arial"/>
              </a:rPr>
              <a:t>The reason is auditable by construction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4045"/>
                </a:solidFill>
                <a:latin typeface="Arial"/>
              </a:rPr>
              <a:t>Every determination stores its full node trail, the passage behind each leaf, and the policy version in force on the date of service. A CMS-0057-F reason code is a query, not a reconstruction.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3968496"/>
            <a:ext cx="83027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BA0F2"/>
                </a:solidFill>
                <a:latin typeface="Arial"/>
              </a:rPr>
              <a:t>BEYOND THE DEMO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4187952"/>
            <a:ext cx="26822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Domain-agnostic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4045"/>
                </a:solidFill>
                <a:latin typeface="Arial"/>
              </a:rPr>
              <a:t>The Criteria Ledger is a governed evidence engine. Swap medical policy for AML rules or supplier contracts — the rollup is unchanged.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30880" y="4187952"/>
            <a:ext cx="26822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Push upstream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4045"/>
                </a:solidFill>
                <a:latin typeface="Arial"/>
              </a:rPr>
              <a:t>Share the criteria engine with providers so a request is checked before it is submitted, removing the denial rather than appealing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1136" y="4187952"/>
            <a:ext cx="26822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B1A2B"/>
                </a:solidFill>
                <a:latin typeface="Arial"/>
              </a:rPr>
              <a:t>Already population-scale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4045"/>
                </a:solidFill>
                <a:latin typeface="Arial"/>
              </a:rPr>
              <a:t>Any of the 5,003 members is reviewable on demand today. Adding a policy is adding a PDF — parsing, extraction and scoring already run unattended.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